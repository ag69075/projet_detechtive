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7" r:id="rId26"/>
    <p:sldId id="273" r:id="rId22"/>
    <p:sldId id="274" r:id="rId23"/>
    <p:sldId id="275" r:id="rId24"/>
    <p:sldId id="276" r:id="rId25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8" name="Google Shape;8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5" name="Google Shape;11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8.jpg"/><Relationship Id="rId6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Relationship Id="rId4" Type="http://schemas.openxmlformats.org/officeDocument/2006/relationships/image" Target="../media/image6.jpg"/><Relationship Id="rId5" Type="http://schemas.openxmlformats.org/officeDocument/2006/relationships/image" Target="../media/image4.jpg"/><Relationship Id="rId6" Type="http://schemas.openxmlformats.org/officeDocument/2006/relationships/image" Target="../media/image14.jp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4.jp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571232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26680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882128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037576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93024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348472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503920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659368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814816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571232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726680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882128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037576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93024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348472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03920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59368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814816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571232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726680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882128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037576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8193024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348472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503920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659368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8814816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571232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726680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882128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037576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193024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348472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503920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659368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814816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1664208"/>
            <a:ext cx="91440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1847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CERTIFICATION AIS  —  RNCP NIVEAU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2139696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 Detechtive Agency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31089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Infrastructure réseau sécurisée « Secure by Design 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3822192"/>
            <a:ext cx="64008" cy="9601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384048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CANDIDAT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405993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Axel GINEPRO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446227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pour Administrateur Infrastructures Sécurisées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54880" y="38404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SOUTENANCE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4059936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juin 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54880" y="44622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 blocs de compétences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4B8A6">
              <a:alpha val="12156"/>
            </a:srgbClr>
          </a:solidFill>
          <a:ln cap="flat" cmpd="sng" w="12700">
            <a:solidFill>
              <a:srgbClr val="14B8A6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0" y="3291840"/>
            <a:ext cx="2560320" cy="2560320"/>
          </a:xfrm>
          <a:prstGeom prst="ellipse">
            <a:avLst/>
          </a:prstGeom>
          <a:solidFill>
            <a:srgbClr val="14B8A6">
              <a:alpha val="10196"/>
            </a:srgbClr>
          </a:solidFill>
          <a:ln cap="flat" cmpd="sng" w="12700">
            <a:solidFill>
              <a:srgbClr val="14B8A6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256032"/>
            <a:ext cx="960120" cy="2743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2560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PROPOS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62179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Axel GINEPRO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1261872"/>
            <a:ext cx="4572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Passionné d'informatique depuis l'enfance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 MS-DOS aux environnements modernes Windows, Linux, chromeOS et macOS, j'administre un NAS Synology de A à Z depuis 2008 : 30 To RAID, une quinzaine de services Docker, reverse proxy SSL, IaC Ansible.</a:t>
            </a:r>
            <a:b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Depuis 6 ans dans la tech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j'ai débuté par le développement web &amp; mobile avant de faire une transition vers l'administration d'infrastructures sécurisées et la cybersécurité.</a:t>
            </a:r>
            <a:b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 parallèle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je maintiens mon Cyberlab, un lab R&amp;D personnel : OSINT, pentest, forensics, GRC, audit ANSSI, cloud/infra et le Projet Detechtive lui-même.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212080" y="1234440"/>
            <a:ext cx="356616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212080" y="1234440"/>
            <a:ext cx="64008" cy="76809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76672" y="128930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+ de 15 ans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376672" y="161848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NAS Synology — 30 To RAID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 · Ansible · reverse proxy SSL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212080" y="2103120"/>
            <a:ext cx="356616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212080" y="2103120"/>
            <a:ext cx="64008" cy="76809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376672" y="215798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depuis 6 ans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76672" y="248716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Expérience professionnelle 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 web &amp; mobile · LDLC-OL &amp; SQLI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212080" y="2971800"/>
            <a:ext cx="356616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212080" y="2971800"/>
            <a:ext cx="64008" cy="76809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376672" y="302666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Cyberlab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376672" y="335584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 R&amp;D perso — DevSecOps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Pentest · OSINT · Cloud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212080" y="3840480"/>
            <a:ext cx="356616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212080" y="3840480"/>
            <a:ext cx="64008" cy="76809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76672" y="389534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 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76672" y="422452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Windows · Linux · macOS · ChromeOS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PRÉSENTATION DU CANDIDAT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57200" y="27432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51206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de la soutenance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1005840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1207008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1188720" y="1298448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5"/>
          <p:cNvSpPr/>
          <p:nvPr/>
        </p:nvSpPr>
        <p:spPr>
          <a:xfrm>
            <a:off x="1371600" y="12710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Contexte &amp; objectifs du projet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71600" y="15544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Besoin métier, CIDT, périmètre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1920240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1188720" y="2011680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1371600" y="19842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 1 — Administrer &amp; sécuriser les infrastructures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371600" y="22677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GNS3, architecture, plan IP, pfSense, 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2633472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88720" y="2724912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1371600" y="26974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 2 — Concevoir une évolution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371600" y="298094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VPN WireGuard, supervision Wazuh, sauvegarde VLAN 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3346704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5"/>
          <p:cNvCxnSpPr/>
          <p:nvPr/>
        </p:nvCxnSpPr>
        <p:spPr>
          <a:xfrm>
            <a:off x="1188720" y="3438144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5"/>
          <p:cNvSpPr/>
          <p:nvPr/>
        </p:nvSpPr>
        <p:spPr>
          <a:xfrm>
            <a:off x="1371600" y="34107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 3 — Gestion de la cybersécurité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371600" y="3694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PSSI, Wazuh SIEM, Cyberlab, CI/CD DevSecOps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4059936"/>
            <a:ext cx="640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1188720" y="4151376"/>
            <a:ext cx="0" cy="438912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1371600" y="41239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Bilan &amp; 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371600" y="440740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Compétences abordées, chiffres clés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01  —  CONTEXTE &amp; OBJECTIFS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Detechtive Agency : une agence fictive aux enjeux réels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12984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Scénario métier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1591056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Agence de détectives privés manipulant des données sensibles : rapports d'enquête, preuves numériques, identité des agents.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232257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Démarche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2615184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Conception « Secure by Design » : la sécurité est intégrée dès la phase de conception, pas ajoutée après coup.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33467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Périmètre technique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3639312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Infrastructure entièrement virtualisée sous GNS3 (topologie + hyperviseur QEMU/KVM). Un réseau complet : poste client, serveur web, serveur de fichiers, base de données, AD, SIEM, sauvegarde.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617720" y="1261872"/>
            <a:ext cx="20116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617720" y="1261872"/>
            <a:ext cx="201168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17720" y="13716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727448" y="201168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Confidentialité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27448" y="2286000"/>
            <a:ext cx="17922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Chiffrement intégral (HTTPS/TLS, LDAPS, PDO SSL, WireGuard), segmentation VLAN stricte.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739128" y="1261872"/>
            <a:ext cx="20116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739128" y="1261872"/>
            <a:ext cx="2011680" cy="54864"/>
          </a:xfrm>
          <a:prstGeom prst="rect">
            <a:avLst/>
          </a:prstGeom>
          <a:solidFill>
            <a:srgbClr val="2D3B6B"/>
          </a:solidFill>
          <a:ln cap="flat" cmpd="sng" w="12700">
            <a:solidFill>
              <a:srgbClr val="2D3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739128" y="13716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B6B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2D3B6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848856" y="201168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Intégrité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848856" y="2286000"/>
            <a:ext cx="17922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Deny all pfSense, requêtes SQL préparées, ACL NTFS, PKI interne AD CS.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617720" y="3072384"/>
            <a:ext cx="20116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617720" y="3072384"/>
            <a:ext cx="20116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617720" y="318211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27448" y="382219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Disponibilité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727448" y="4096512"/>
            <a:ext cx="17922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Cloisonnement par zones, backups isolés VLAN 60 anti-ransomware.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739128" y="3072384"/>
            <a:ext cx="20116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739128" y="3072384"/>
            <a:ext cx="2011680" cy="5486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739128" y="318211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848856" y="382219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Traçabilité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48856" y="4096512"/>
            <a:ext cx="17922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Centralisation logs Wazuh SIEM, authentification centralisée Active Directory.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CONTEXTE &amp; OBJECTIFS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4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502920" y="17373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02920" y="210312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Administrer &amp; sécuriser les infrastructures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" y="312724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Infrastructures réseaux, systèmes et virtualisées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02920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02920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8368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Réseau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58368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pfSense + switch IOU L2, Router-on-a-Stick 802.1Q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304032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304032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459480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Systèmes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459480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Windows Server 2022, Active Directory, Ubuntu Linux — Wazuh SIEM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105144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105144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260592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260592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GNS3 + hyperviseur QEMU/KVM intégré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5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VIRTUALISATION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GNS3 : topologie réseau + hyperviseur QEMU/KVM intégré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" y="1261872"/>
            <a:ext cx="2697480" cy="3456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1261872"/>
            <a:ext cx="269748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21792" y="138988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Topologie réseau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21792" y="175564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Switch Cisco IOU + Trunk 802.1Q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21792" y="230428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pfSense -  pare-feu &amp; routeur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21792" y="285292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Machines virtuelles</a:t>
            </a:r>
            <a:endParaRPr b="1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21792" y="340156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 × Windows Server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Poste client Windows (VLAN 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Ubuntu Server — Wazuh SIEM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pologie GNS3 Detechtive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5" y="1010725"/>
            <a:ext cx="5484874" cy="38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VIRTUALISATION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6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ARCHITECTURE RÉSEAU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Choix architectural : Router-on-a-Stick (802.1Q)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Deux équipements aux rôles séparés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Switch Cisco IOU</a:t>
            </a:r>
            <a:br>
              <a:rPr b="1" i="0" lang="en-US" sz="10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Le switch IOU opère en L2 pur — il transporte les trames de tous les VLAN vers pfSense via un unique lien trunk 802.1Q, sans effectuer aucun routage.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Pare-feu pfSense</a:t>
            </a:r>
            <a:br>
              <a:rPr b="1" i="0" lang="en-US" sz="10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 sous-interfaces VLAN, routage inter-VLAN, filtrage stateful, NAT, DHCP, VPN WireGuard — unique trunk 802.1Q vers le switch.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Bénéfices sécurité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Séparation stricte des rôles L2/L3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Politique firewall centralisée et auditable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Aucun routage sur le switch = surface d'attaque réduite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Conformité ANSSI (cloisonnement réseau)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3.png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9635" y="1261872"/>
            <a:ext cx="3462411" cy="3437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4617720" y="479000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Configuration du câblage IOU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ARCHITECTURE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7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PLAN D'ADRESSAGE 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Subnetting rigoureux par zone — maîtrise du plan 192.168.10.0/24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12344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Schéma conceptuel — Router-on-a-Stick, 6 VLAN et plan d'adressage détaillé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project/ip.png"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1328"/>
            <a:ext cx="8229600" cy="321868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PLAN IP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SEGMENTATION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zones de sécurité — un VLAN = un niveau de confiance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57200" y="1261872"/>
            <a:ext cx="658368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064" y="1261872"/>
            <a:ext cx="566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115568" y="1261872"/>
            <a:ext cx="1600200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170432" y="12618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2715768" y="1261872"/>
            <a:ext cx="1298448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770632" y="126187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Plage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014216" y="1261872"/>
            <a:ext cx="2267712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069080" y="126187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Hôtes principaux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281928" y="1261872"/>
            <a:ext cx="1554480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336792" y="126187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836408" y="1261872"/>
            <a:ext cx="987552" cy="329184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891272" y="1261872"/>
            <a:ext cx="8961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1627632"/>
            <a:ext cx="65836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57200" y="1627632"/>
            <a:ext cx="54864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" y="162763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115568" y="1627632"/>
            <a:ext cx="1600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170432" y="1627632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715768" y="1627632"/>
            <a:ext cx="129844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770632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192.168.10.0/28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014216" y="1627632"/>
            <a:ext cx="226771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069080" y="1627632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 Web (.10)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281928" y="1627632"/>
            <a:ext cx="1554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336792" y="1627632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Exposée WAN (NAT 80/443)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836408" y="1627632"/>
            <a:ext cx="98755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891272" y="1627632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Faible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2167128"/>
            <a:ext cx="65836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57200" y="2167128"/>
            <a:ext cx="54864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216712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115568" y="2167128"/>
            <a:ext cx="160020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170432" y="2167128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Serveurs internes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2715768" y="2167128"/>
            <a:ext cx="129844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2770632" y="2167128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192.168.10.16/28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014216" y="2167128"/>
            <a:ext cx="226771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069080" y="2167128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FileServer (.20) + MariaDB (.21)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281928" y="2167128"/>
            <a:ext cx="155448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336792" y="2167128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Interne uniquement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836408" y="2167128"/>
            <a:ext cx="98755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891272" y="2167128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Élevé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57200" y="2706624"/>
            <a:ext cx="65836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2706624"/>
            <a:ext cx="54864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48640" y="2706624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115568" y="2706624"/>
            <a:ext cx="1600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170432" y="2706624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Postes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715768" y="2706624"/>
            <a:ext cx="129844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770632" y="27066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192.168.10.128/25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014216" y="2706624"/>
            <a:ext cx="226771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069080" y="2706624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Workstations DHCP (.130 → .200)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281928" y="2706624"/>
            <a:ext cx="1554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336792" y="2706624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Interne 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836408" y="2706624"/>
            <a:ext cx="98755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891272" y="270662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Moyen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3246120"/>
            <a:ext cx="65836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57200" y="3246120"/>
            <a:ext cx="54864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32461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115568" y="3246120"/>
            <a:ext cx="160020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170432" y="3246120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2715768" y="3246120"/>
            <a:ext cx="129844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770632" y="32461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192.168.10.32/29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014216" y="3246120"/>
            <a:ext cx="226771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069080" y="3246120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SRV-AD01 (.34) — DNS, PKI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281928" y="3246120"/>
            <a:ext cx="155448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336792" y="324612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7836408" y="3246120"/>
            <a:ext cx="98755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891272" y="3246120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3785616"/>
            <a:ext cx="65836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57200" y="3785616"/>
            <a:ext cx="54864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48640" y="3785616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115568" y="3785616"/>
            <a:ext cx="1600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170432" y="3785616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Management &amp; SIEM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715768" y="3785616"/>
            <a:ext cx="1298448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2770632" y="3785616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192.168.10.40/29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014216" y="3785616"/>
            <a:ext cx="226771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069080" y="3785616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Wazuh (.42) + Admin (.43)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281928" y="3785616"/>
            <a:ext cx="1554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336792" y="3785616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836408" y="3785616"/>
            <a:ext cx="987552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7891272" y="3785616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57200" y="4325112"/>
            <a:ext cx="65836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57200" y="4325112"/>
            <a:ext cx="54864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48640" y="432511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115568" y="4325112"/>
            <a:ext cx="160020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170432" y="4325112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715768" y="4325112"/>
            <a:ext cx="1298448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770632" y="432511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192.168.10.48/29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014216" y="4325112"/>
            <a:ext cx="226771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069080" y="4325112"/>
            <a:ext cx="2157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NAS Backup (.50)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281928" y="4325112"/>
            <a:ext cx="1554480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336792" y="4325112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Isolé — aucune sortie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836408" y="4325112"/>
            <a:ext cx="987552" cy="50292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7891272" y="4325112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Passif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SEGMENTATION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9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FILTRAGE pfSense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Matrice de flux : deny all par défaut + autorisations justifiées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1261872"/>
            <a:ext cx="1170432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12064" y="1261872"/>
            <a:ext cx="1078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627632" y="1261872"/>
            <a:ext cx="1170432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682496" y="1261872"/>
            <a:ext cx="1078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2798064" y="1261872"/>
            <a:ext cx="1234440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2852928" y="1261872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032504" y="1261872"/>
            <a:ext cx="896112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087368" y="1261872"/>
            <a:ext cx="804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928624" y="1261875"/>
            <a:ext cx="4073700" cy="310800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983476" y="1261875"/>
            <a:ext cx="401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Justification métier / sécurité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16093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12064" y="16093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627632" y="16093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682496" y="16093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DMZ (10)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2798064" y="1609344"/>
            <a:ext cx="123444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852928" y="1609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80, 443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032504" y="1609344"/>
            <a:ext cx="89611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105656" y="1691640"/>
            <a:ext cx="749808" cy="25603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105656" y="16916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928624" y="1609347"/>
            <a:ext cx="40737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983476" y="1609347"/>
            <a:ext cx="4018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Exposition service Web métier (NAT)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57200" y="20665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512064" y="20665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DMZ (10)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627632" y="20665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682496" y="20665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Serveurs (20)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2798064" y="2066544"/>
            <a:ext cx="123444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2852928" y="20665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3306</a:t>
            </a:r>
            <a:r>
              <a:rPr lang="en-US" sz="9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445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032504" y="2066544"/>
            <a:ext cx="89611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105656" y="2148840"/>
            <a:ext cx="749808" cy="25603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105656" y="21488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928624" y="2066548"/>
            <a:ext cx="40737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983476" y="2066548"/>
            <a:ext cx="4018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Accès BDD (PDO SSL) + FileServer (SMB)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57200" y="2523744"/>
            <a:ext cx="117043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12064" y="25237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Clients (30)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627632" y="2523744"/>
            <a:ext cx="117043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682496" y="25237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 (40)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2798064" y="2523744"/>
            <a:ext cx="1234440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2852928" y="25237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53, 88, 445, 636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4032504" y="2523744"/>
            <a:ext cx="89611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105656" y="2606040"/>
            <a:ext cx="749808" cy="25603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4105656" y="26060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928624" y="2523750"/>
            <a:ext cx="4073700" cy="4206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976928" y="2523749"/>
            <a:ext cx="399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Authentification (Kerberos/LDAPS), DNS et GPO (SMB)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29809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512064" y="29809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Serveurs/AD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627632" y="29809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682496" y="29809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 (60)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798064" y="2980944"/>
            <a:ext cx="123444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2852928" y="29809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445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032504" y="2980944"/>
            <a:ext cx="89611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105656" y="3063240"/>
            <a:ext cx="749808" cy="25603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105656" y="30632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4928624" y="2980949"/>
            <a:ext cx="40737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983476" y="2980949"/>
            <a:ext cx="4018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Sauvegarde unidirectionnelle Windows Server Backup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57200" y="3438144"/>
            <a:ext cx="117043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12064" y="34381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 (60)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627632" y="3438144"/>
            <a:ext cx="117043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682496" y="34381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798064" y="3438144"/>
            <a:ext cx="1234440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2852928" y="34381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032504" y="3438144"/>
            <a:ext cx="896112" cy="420624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105656" y="3520440"/>
            <a:ext cx="749808" cy="25603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105656" y="35204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928624" y="3438151"/>
            <a:ext cx="4073700" cy="4206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976928" y="3438150"/>
            <a:ext cx="399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Isolation anti-ransomware (zone passive)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457200" y="38953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12064" y="38953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1627632" y="3895344"/>
            <a:ext cx="117043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682496" y="3895344"/>
            <a:ext cx="10789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Tout (défaut)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2798064" y="3895344"/>
            <a:ext cx="123444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2852928" y="3895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4032504" y="3895344"/>
            <a:ext cx="896112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105656" y="3977640"/>
            <a:ext cx="749808" cy="25603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105656" y="3977640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4928624" y="3895350"/>
            <a:ext cx="40737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983476" y="3895350"/>
            <a:ext cx="4018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Politique deny-all par défaut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3388500" y="4469100"/>
            <a:ext cx="3989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1" i="1" lang="en-US" sz="125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Filtrage pfSense</a:t>
            </a:r>
            <a:r>
              <a:rPr i="1" lang="en-US" sz="125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 xml:space="preserve"> : tout interdit sauf besoin métier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t/>
            </a:r>
            <a:endParaRPr i="1" sz="75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FILTRAGE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10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FILTRAGE pfSense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Mise en œuvre concrète — aliases et règles par interface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soutenance_unpacked/word/media/image40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960" y="1261872"/>
            <a:ext cx="3700999" cy="1719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39.png" id="440" name="Google Shape;4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3057" y="1261872"/>
            <a:ext cx="3721285" cy="1778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50.png" id="441" name="Google Shape;44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137487"/>
            <a:ext cx="4160520" cy="1002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45.png" id="442" name="Google Shape;44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3170943"/>
            <a:ext cx="4160520" cy="150366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"/>
          <p:cNvSpPr/>
          <p:nvPr/>
        </p:nvSpPr>
        <p:spPr>
          <a:xfrm>
            <a:off x="457200" y="2953512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Aliases IP pfSense — zones de sécurité matérialisées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663440" y="2953512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Interface WORKSTATIONS (VLAN 30) — auth AD, logs SIEM, blocage des zones sensibles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404975" y="4186580"/>
            <a:ext cx="4160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Interface BACKUP (VLAN 60) — logs SIEM uniquement, isolation anti-ransomware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663440" y="4754880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Interface ACTIVEDIRECTORY (VLAN 40) — isolation stricte du domaine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FILTRAGE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11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ACTIVE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Annuaire detechtive.local — moindre privilège &amp; PKI interne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Structure organisationnelle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OU séparées : Agents / Administrateurs / Comptes de service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Comptes utilisateurs standards, jamais admin local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Comptes de service dédiés (WebApp, FileServer mount)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GPO différenciées par OU (verrouillage, USB, fond d'écran)</a:t>
            </a: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PKI interne (AD CS) &amp; fichiers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Autorité de Certification interne (AD CS) pour chiffrer les flux           </a:t>
            </a:r>
            <a:endParaRPr sz="10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  applicatifs internes (TLS entre le serveur web et MariaDB)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File Server : partage SMB \\FILE-SERVER\investigations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Dossiers par équipe, ACL NTFS précises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Mappage dynamique via GPO « logon script 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Audit d'accès aux fichiers (NTFS) activé sur le File Server —    </a:t>
            </a:r>
            <a:endParaRPr sz="10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  événements collectés par l'agent Wazuh et centralisés dans le SIEM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16.png" id="460" name="Google Shape;4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261872"/>
            <a:ext cx="3800000" cy="1546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19.png" id="461" name="Google Shape;4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900000"/>
            <a:ext cx="1800000" cy="78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9200" y="2900000"/>
            <a:ext cx="1900000" cy="13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7400" y="3602650"/>
            <a:ext cx="2513850" cy="131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4"/>
          <p:cNvSpPr/>
          <p:nvPr/>
        </p:nvSpPr>
        <p:spPr>
          <a:xfrm>
            <a:off x="6976750" y="4389038"/>
            <a:ext cx="21627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Structure OU detechtive.local</a:t>
            </a:r>
            <a:endParaRPr b="0" i="0" sz="75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DET-Users, DET-Groups, ServiceAccounts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126250" y="4227875"/>
            <a:ext cx="3046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Politique de mots de passe — 14 car. min, 90 jours max, complexité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IDENTITÉS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12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STRATÉGIES DE GROUPE (GPO)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Durcissement centralisé des postes clients et des serveurs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soutenance_unpacked/word/media/image46.png"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512" y="1261872"/>
            <a:ext cx="3259896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30.png" id="479" name="Google Shape;4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0383" y="1261872"/>
            <a:ext cx="3746634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26.png" id="480" name="Google Shape;4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5" y="3090675"/>
            <a:ext cx="2364926" cy="1664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outenance_unpacked/word/media/image32.png" id="481" name="Google Shape;48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4920" y="3090672"/>
            <a:ext cx="3397559" cy="2241133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5"/>
          <p:cNvSpPr/>
          <p:nvPr/>
        </p:nvSpPr>
        <p:spPr>
          <a:xfrm>
            <a:off x="457200" y="2971800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GPO-Screensaver-Lock — verrouillage session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4663440" y="2971800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GPO-Wallpaper-Workstations — fond d'écran sécurité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457200" y="4754880"/>
            <a:ext cx="4160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GPO-Audit — Account Management + Logon tracés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3833625" y="3967425"/>
            <a:ext cx="15609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Politique de mots de passe</a:t>
            </a:r>
            <a:endParaRPr b="0" i="0" sz="75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14 car., complexité, 90 jours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GPO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13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 —  BACKEND APPLICATIF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Coffre-Fort Numérique — intégration DMZ / Serveurs / 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soutenance_unpacked/word/media/image35.png" id="498" name="Google Shape;4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49" y="2304850"/>
            <a:ext cx="2303976" cy="11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6"/>
          <p:cNvSpPr/>
          <p:nvPr/>
        </p:nvSpPr>
        <p:spPr>
          <a:xfrm>
            <a:off x="5394960" y="1261872"/>
            <a:ext cx="333756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458968" y="126187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6693408" y="1261872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Apache / XAMPP — VLAN 10 DMZ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394960" y="1746504"/>
            <a:ext cx="3337560" cy="438912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458968" y="174650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Langage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6693408" y="1746504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PHP 8.x — PDO prepared statements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5394960" y="2231136"/>
            <a:ext cx="333756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458968" y="223113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693408" y="2231136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MariaDB — VLAN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394960" y="2715768"/>
            <a:ext cx="3337560" cy="438912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5458968" y="271576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File 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6693408" y="2715768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SMB (445) — VLAN 20 — compte AD dédié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5394960" y="3200400"/>
            <a:ext cx="333756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5458968" y="320040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Authentification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6693408" y="3200400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MariaDB — VLAN 20 — mots de passe hashés bcrypt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5394960" y="3685032"/>
            <a:ext cx="3337560" cy="438912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5458968" y="368503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Chiffrement flux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6693408" y="3685032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TLS 1.3 AES-128-GCM-SHA256 — PKI AD CS interne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38.png" id="517" name="Google Shape;5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1503" y="1261875"/>
            <a:ext cx="2929178" cy="3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6"/>
          <p:cNvSpPr/>
          <p:nvPr/>
        </p:nvSpPr>
        <p:spPr>
          <a:xfrm>
            <a:off x="457200" y="4754880"/>
            <a:ext cx="8229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Code source : github.com/axelginepro/Projet_Detechtive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1 • APPLICATIF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14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7"/>
          <p:cNvSpPr/>
          <p:nvPr/>
        </p:nvSpPr>
        <p:spPr>
          <a:xfrm>
            <a:off x="502920" y="17373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02920" y="210312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Concevoir &amp; mettre en œuvre une évolution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502920" y="312724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 évolutions priorisées selon les besoins métier et les contraintes du projet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502920" y="3730752"/>
            <a:ext cx="2670048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02920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2075688" y="3776472"/>
            <a:ext cx="1024128" cy="23774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2075688" y="3776472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658368" y="37947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658368" y="413308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VPN Administrateurs &amp; Développeurs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658368" y="4425696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tunnels WireGuard distincts</a:t>
            </a:r>
            <a:endParaRPr b="0" i="0" sz="9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admins (51820) &amp; développeurs (51821)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3246120" y="3730752"/>
            <a:ext cx="2670048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3246120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4818888" y="3776472"/>
            <a:ext cx="1024128" cy="23774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4818888" y="3776472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3401568" y="37947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3401568" y="413308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Supervision SIEM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3401568" y="4425696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Déploiement Wazuh 4.14.1</a:t>
            </a:r>
            <a:endParaRPr b="0" i="0" sz="9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8 règles Wazuh personnalisées, référencées sur la matrice MITRE ATT&amp;CK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989320" y="3730752"/>
            <a:ext cx="2670048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989320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7562088" y="3776472"/>
            <a:ext cx="1024128" cy="23774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7562088" y="3776472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144768" y="37947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6144768" y="413308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Sauvegarde isolée VLAN 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6144768" y="4425696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VLAN 60 dédié — principe 3-2-1 — BitLocker AES-256 — isolation anti-ransomware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 —  ACCÈS DISTANT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WireGuard : deux tunnels distincts pour deux profils utilisateurs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457200" y="1261872"/>
            <a:ext cx="416052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457200" y="1261872"/>
            <a:ext cx="4160520" cy="365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566928" y="126187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TUNNEL 1 — ADMINISTRATEURS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566928" y="170078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 xml:space="preserve">Port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UDP  51820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566928" y="193852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 xml:space="preserve">Plage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10.10.10.0/24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66928" y="226771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✓  ACCÈS AUTORISÉS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658368" y="251460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40 (AD)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658368" y="278892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50 (Management + Wazuh + GUI pfSense)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658368" y="306324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60 (Backup — SSH 22, 9102)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566928" y="34015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ACCÈS REFUSÉS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658368" y="3648456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10 (DMZ)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658368" y="3948456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20 (BDD, File Server)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658368" y="4248456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30 (postes clients)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4663440" y="1261872"/>
            <a:ext cx="416052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4663440" y="1261872"/>
            <a:ext cx="4160520" cy="3657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4773168" y="126187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TUNNEL 2 — DÉVELOPPEURS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4773168" y="170078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 xml:space="preserve">Port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UDP  51821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4773168" y="193852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 xml:space="preserve">Plage 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10.10.20.0/24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4773168" y="226771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✓  ACCÈS AUTORISÉS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4864608" y="251460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10 (DMZ — ports 443/22)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4864608" y="278892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20 (BDD, File Server)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4864608" y="3063240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40 (DNS uniquement — port 53)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4773168" y="34015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 ACCÈS REFUSÉS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4864608" y="3648456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50 (SIEM)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4864608" y="3922776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GUI pfSense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4864608" y="4169664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VLAN 60 (Backup)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• VPN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16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 —  WAZUH SIEM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Déploiement &amp; intégration — VM Ubuntu 22.04 en VLAN 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457200" y="12801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Sources de logs collectées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457200" y="1572768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621792" y="15727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Workstation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2029975" y="1572775"/>
            <a:ext cx="247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événements Windows, authentification 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457200" y="1956816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621792" y="195681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2029968" y="195681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Windows Event Forwarding —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457200" y="2340864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621792" y="234086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2029968" y="234086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access.log, error.log, auth 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457200" y="2724912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621792" y="27249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MariaDB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2029968" y="27249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connexions, erreurs, requêtes lentes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457200" y="3108960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621792" y="31089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File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2029968" y="31089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NTFS — accès dossiers sensibles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457200" y="3493008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621792" y="34930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WS Backup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2029968" y="34930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succès/échecs + supervision BitLocker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457200" y="3904488"/>
            <a:ext cx="3931920" cy="896112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64008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4.14.1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64008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Version Wazuh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160020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160020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Agents déployés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256032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9 705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256032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Alertes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352044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90j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352044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Rétention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2.png" id="630" name="Google Shape;6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4311" y="3950208"/>
            <a:ext cx="99305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9"/>
          <p:cNvSpPr/>
          <p:nvPr/>
        </p:nvSpPr>
        <p:spPr>
          <a:xfrm>
            <a:off x="4617720" y="3822192"/>
            <a:ext cx="4206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Dashboard Threat Hunting — 9 705 alertes, cartographie MITRE ATT&amp;CK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7263575" y="4217025"/>
            <a:ext cx="1242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local_rules.xml</a:t>
            </a:r>
            <a:endParaRPr b="0" i="0" sz="75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groupes DATABASE et RANSOMWARE (extrait)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• WAZUH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1838" y="1150025"/>
            <a:ext cx="4283752" cy="26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 —  SAUVEGARDE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60 dédié — principe 3-2-1 — isolation anti-ransomware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457200" y="1261872"/>
            <a:ext cx="438912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594360" y="133502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de sauvegarde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594360" y="1691640"/>
            <a:ext cx="1691640" cy="34747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594360" y="169164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Server (VLAN 20)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20"/>
          <p:cNvCxnSpPr/>
          <p:nvPr/>
        </p:nvCxnSpPr>
        <p:spPr>
          <a:xfrm>
            <a:off x="2304288" y="186537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1" name="Google Shape;651;p20"/>
          <p:cNvSpPr/>
          <p:nvPr/>
        </p:nvSpPr>
        <p:spPr>
          <a:xfrm>
            <a:off x="2322575" y="1709925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SMB</a:t>
            </a:r>
            <a:r>
              <a:rPr b="0" i="0" lang="en-US" sz="6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445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594360" y="2194560"/>
            <a:ext cx="1691640" cy="34747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594360" y="219456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MariaDB (VLAN 20)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p20"/>
          <p:cNvCxnSpPr/>
          <p:nvPr/>
        </p:nvCxnSpPr>
        <p:spPr>
          <a:xfrm>
            <a:off x="2304288" y="236829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5" name="Google Shape;655;p20"/>
          <p:cNvSpPr/>
          <p:nvPr/>
        </p:nvSpPr>
        <p:spPr>
          <a:xfrm>
            <a:off x="2322575" y="2212850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SMB</a:t>
            </a:r>
            <a:r>
              <a:rPr b="0" i="0" lang="en-US" sz="6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445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594360" y="2697480"/>
            <a:ext cx="1691640" cy="34747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594360" y="269748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SRV-AD-01 (VLAN 40)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20"/>
          <p:cNvCxnSpPr/>
          <p:nvPr/>
        </p:nvCxnSpPr>
        <p:spPr>
          <a:xfrm>
            <a:off x="2304288" y="287121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4B8A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9" name="Google Shape;659;p20"/>
          <p:cNvSpPr/>
          <p:nvPr/>
        </p:nvSpPr>
        <p:spPr>
          <a:xfrm>
            <a:off x="2322575" y="2715775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SMB</a:t>
            </a:r>
            <a:r>
              <a:rPr b="0" i="0" lang="en-US" sz="6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6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445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2880360" y="1691640"/>
            <a:ext cx="1737360" cy="1463040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2880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NAS-BACKUP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192.168.10.50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60 isolé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BitLocker AES-256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457200" y="3950208"/>
            <a:ext cx="4389120" cy="3657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548640" y="3968496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🚫  AUCUN FLUX SORTANT depuis VLAN 60 — Internet totalement bloqué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457200" y="4389120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Windows Server Backup  •  RTO &lt; 4 h  •  RPO &lt; 24 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5074920" y="126187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Principe 3-2-1 (évolutif)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5074920" y="1600200"/>
            <a:ext cx="365760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5074920" y="1600200"/>
            <a:ext cx="64008" cy="9601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5212080" y="165506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5715000" y="16916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copies des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5715000" y="2011680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 prod + 2 sauvegardes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5074920" y="2679192"/>
            <a:ext cx="365760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5074920" y="2679192"/>
            <a:ext cx="64008" cy="9601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5212080" y="273405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5715000" y="2770632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différents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0"/>
          <p:cNvSpPr/>
          <p:nvPr/>
        </p:nvSpPr>
        <p:spPr>
          <a:xfrm>
            <a:off x="5715000" y="3090672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Disque local + NAS isolé (VLAN 60)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5074920" y="3758184"/>
            <a:ext cx="365760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5074920" y="3758184"/>
            <a:ext cx="64008" cy="9601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5212080" y="381304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5715000" y="384962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copie hors-site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5715000" y="4169664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Évolution future : copie sur stockage cloud (ex. Google Drive)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SAUVEGARDE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0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18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1"/>
          <p:cNvSpPr/>
          <p:nvPr/>
        </p:nvSpPr>
        <p:spPr>
          <a:xfrm>
            <a:off x="502920" y="17373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502920" y="210312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Participer à la gestion de la cybersécurité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502920" y="312724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Mesurer — Formaliser — Détecter — Traiter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502920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502920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658368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658368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Wazuh SCA — CIS Benchmark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3304032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3304032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3459480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3459480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PSSI opposable alignée ANSSI / ISO 27001 — 6 domaines de sécurité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6105144" y="3730752"/>
            <a:ext cx="2727960" cy="1143000"/>
          </a:xfrm>
          <a:prstGeom prst="rect">
            <a:avLst/>
          </a:prstGeom>
          <a:solidFill>
            <a:srgbClr val="162336"/>
          </a:solidFill>
          <a:ln cap="flat" cmpd="sng" w="12700">
            <a:solidFill>
              <a:srgbClr val="162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6105144" y="3730752"/>
            <a:ext cx="64008" cy="1143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6260592" y="3794760"/>
            <a:ext cx="249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Cyberlab &amp; DevSecOps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6260592" y="4114800"/>
            <a:ext cx="2499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Suite d'outils web créée sur mesure — aginepro.work/cyberlab — pipeline CI/CD GitHub 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19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 —  PSSI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Politique de Sécurité formalisée — 6 domaines de sécurité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457200" y="12801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Axes couverts par la PSSI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457200" y="157276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Système de Management de la Sécurité (classification, acteurs, gestion des incidents, continuité)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457200" y="197510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Protection du système d’information (équipements, accès, serveurs, supervision, sauvegardes)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Développement de l’application métier sécurisée (Security by Design, OWASP Top 10, cycle de vie)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457200" y="27797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Sécurisation des environnements virtualisés (moindre privilège, VLAN de gestion, journalisation)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457200" y="318211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Gestion des vulnérabilités et des correctifs (veille CERT-FR, remédiation sous 72h)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457200" y="35844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Sécurité physique et environnementale (contrôle d’accès, protection des salles machines)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457200" y="39867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2"/>
          <p:cNvSpPr/>
          <p:nvPr/>
        </p:nvSpPr>
        <p:spPr>
          <a:xfrm>
            <a:off x="457200" y="4389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4617720" y="128016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Points forts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4617720" y="15727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Deny-all par défaut — flux autorisés sur justification métier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4617720" y="19568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Principe anti-ransomware explicite (VLAN 60 passif)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4617720" y="234086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Procédure d'incident formalisée (ANSSI)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4617720" y="272491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RTO/RPO définis par service critique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4617720" y="3108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Révision annuelle + audits trimestriels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4617720" y="354787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📘  Référentiels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4617720" y="38221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ANSSI — Guide d’hygiène informatique + PSSIE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4617720" y="416966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ISO/IEC 27001:2022 et 27002:2022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4617720" y="45171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OWASP Top 10:2021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4617720" y="48646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RGPD — Règlement (UE) 2016/679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• PSSI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2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20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3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 —  WAZUH SIEM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Audit CIS Benchmark &amp; mesure du niveau de sécurité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457200" y="12801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Wazuh SCA — résultats d’audit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SCA - Security Configuration Assessment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457200" y="1572768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621792" y="15727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Serveur Web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2029968" y="15727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HTTPS forcé, headers sécurité, PDO strict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457200" y="1956816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621792" y="195681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File Server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2029968" y="195681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Score CIS : 80 % - 285 contrôles passés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457200" y="2340864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621792" y="234086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MariaDB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2029968" y="234086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Compte applicatif dédié, accès PDO SSL, journalisation activée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457200" y="2724912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621792" y="27249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Workstations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30)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2029968" y="272491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GPO verrouillage, blocage USB, fond d’écran sécurité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457200" y="3108960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621792" y="31089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Active Directory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40)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2029968" y="31089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Durcissement GPO, FGPP, audit NTFS validés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457200" y="3493008"/>
            <a:ext cx="6400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621792" y="34930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Wazuh SIEM </a:t>
            </a:r>
            <a:endParaRPr b="1" i="0" sz="10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(VLAN 50)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2029968" y="34930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 déployé, règles FIM System32/SysWOW64 actives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457200" y="3904500"/>
            <a:ext cx="3200400" cy="896100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64008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80 %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64008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Score CIS File Server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160020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160020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Agents déployés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2560320" y="39319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2560320" y="43159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Agents audités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8.png" id="775" name="Google Shape;7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14" y="1261872"/>
            <a:ext cx="4174252" cy="29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3"/>
          <p:cNvSpPr/>
          <p:nvPr/>
        </p:nvSpPr>
        <p:spPr>
          <a:xfrm>
            <a:off x="4617720" y="374904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• WAZUH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21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 —  RÈGLES DE DÉTECTION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local_rules.xml — 8 règles personnalisées — MITRE ATT&amp;CK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457200" y="1261872"/>
            <a:ext cx="804672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512064" y="1261872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1261872" y="1261872"/>
            <a:ext cx="3703320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1316736" y="1261872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4965192" y="1261872"/>
            <a:ext cx="1078992" cy="310896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4"/>
          <p:cNvSpPr/>
          <p:nvPr/>
        </p:nvSpPr>
        <p:spPr>
          <a:xfrm>
            <a:off x="5020056" y="1261872"/>
            <a:ext cx="9875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Tactique Principale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6044176" y="1261875"/>
            <a:ext cx="2971200" cy="310800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4"/>
          <p:cNvSpPr/>
          <p:nvPr/>
        </p:nvSpPr>
        <p:spPr>
          <a:xfrm>
            <a:off x="6099050" y="1261875"/>
            <a:ext cx="287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MITRE ATT&amp;CK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457200" y="1609344"/>
            <a:ext cx="80467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512064" y="1609344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1261872" y="1609344"/>
            <a:ext cx="3703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4"/>
          <p:cNvSpPr/>
          <p:nvPr/>
        </p:nvSpPr>
        <p:spPr>
          <a:xfrm>
            <a:off x="1316736" y="160934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Utilisateur ajouté au groupe Domain Admins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4965192" y="1609344"/>
            <a:ext cx="107899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5020056" y="1609344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Élévation de privilèges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6044176" y="1609350"/>
            <a:ext cx="2971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4"/>
          <p:cNvSpPr/>
          <p:nvPr/>
        </p:nvSpPr>
        <p:spPr>
          <a:xfrm>
            <a:off x="6099050" y="1609350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T1098 - Account Manipulation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457200" y="2029968"/>
            <a:ext cx="80467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512064" y="2029968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100101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1261872" y="2029968"/>
            <a:ext cx="3703320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4"/>
          <p:cNvSpPr/>
          <p:nvPr/>
        </p:nvSpPr>
        <p:spPr>
          <a:xfrm>
            <a:off x="1316736" y="202996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Tentative d'attaque DCSync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4965192" y="2029968"/>
            <a:ext cx="107899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5020056" y="2029968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Accès aux identifiants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6044176" y="2029975"/>
            <a:ext cx="2971200" cy="3840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6099050" y="2029975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T1003.006 - OS Credential Dumping: DCSync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457200" y="2450592"/>
            <a:ext cx="80467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512064" y="245059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100300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1261872" y="2450592"/>
            <a:ext cx="3703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1316736" y="245059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des Shadow Copies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4965192" y="2450592"/>
            <a:ext cx="107899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5020056" y="2450592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Impact / Inhibition des défenses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6044176" y="2450600"/>
            <a:ext cx="2971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6099050" y="2450600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T1490 - Inhibit System Recovery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457200" y="2871216"/>
            <a:ext cx="80467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512064" y="2871216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100301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1261872" y="2871216"/>
            <a:ext cx="3703320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1316736" y="2871216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massive de fichiers sur File 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4965192" y="2871216"/>
            <a:ext cx="107899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5020056" y="2871216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4"/>
          <p:cNvSpPr/>
          <p:nvPr/>
        </p:nvSpPr>
        <p:spPr>
          <a:xfrm>
            <a:off x="6044176" y="2871225"/>
            <a:ext cx="2971200" cy="3840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6099050" y="2871225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T1485 - Data Destruction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457200" y="3291840"/>
            <a:ext cx="80467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512064" y="3291840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100400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1261872" y="3291840"/>
            <a:ext cx="3703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1316736" y="3291840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Extraction base de données détectée (mysqldump/pgdump)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4965192" y="3291840"/>
            <a:ext cx="107899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4"/>
          <p:cNvSpPr/>
          <p:nvPr/>
        </p:nvSpPr>
        <p:spPr>
          <a:xfrm>
            <a:off x="5020056" y="3291840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Exfiltration / Collection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4"/>
          <p:cNvSpPr/>
          <p:nvPr/>
        </p:nvSpPr>
        <p:spPr>
          <a:xfrm>
            <a:off x="6044176" y="3291850"/>
            <a:ext cx="2971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4"/>
          <p:cNvSpPr/>
          <p:nvPr/>
        </p:nvSpPr>
        <p:spPr>
          <a:xfrm>
            <a:off x="6099050" y="3291850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T1020 - Automated Exfiltration / T1560 - Archive Collected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457200" y="3712464"/>
            <a:ext cx="80467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512064" y="3712464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100401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4"/>
          <p:cNvSpPr/>
          <p:nvPr/>
        </p:nvSpPr>
        <p:spPr>
          <a:xfrm>
            <a:off x="1261872" y="3712464"/>
            <a:ext cx="3703320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4"/>
          <p:cNvSpPr/>
          <p:nvPr/>
        </p:nvSpPr>
        <p:spPr>
          <a:xfrm>
            <a:off x="1316736" y="371246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Brute force BDD — 5 échecs port 3306 en 2 min (réponse active)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4"/>
          <p:cNvSpPr/>
          <p:nvPr/>
        </p:nvSpPr>
        <p:spPr>
          <a:xfrm>
            <a:off x="4965192" y="3712464"/>
            <a:ext cx="107899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4"/>
          <p:cNvSpPr/>
          <p:nvPr/>
        </p:nvSpPr>
        <p:spPr>
          <a:xfrm>
            <a:off x="5020056" y="3712464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Accès aux identifiants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4"/>
          <p:cNvSpPr/>
          <p:nvPr/>
        </p:nvSpPr>
        <p:spPr>
          <a:xfrm>
            <a:off x="6044176" y="3712475"/>
            <a:ext cx="2971200" cy="3840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4"/>
          <p:cNvSpPr/>
          <p:nvPr/>
        </p:nvSpPr>
        <p:spPr>
          <a:xfrm>
            <a:off x="6099050" y="3712475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T1110.001 - Brute Force: Password Guessing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4"/>
          <p:cNvSpPr/>
          <p:nvPr/>
        </p:nvSpPr>
        <p:spPr>
          <a:xfrm>
            <a:off x="457200" y="4133088"/>
            <a:ext cx="80467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4"/>
          <p:cNvSpPr/>
          <p:nvPr/>
        </p:nvSpPr>
        <p:spPr>
          <a:xfrm>
            <a:off x="512064" y="4133088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4"/>
          <p:cNvSpPr/>
          <p:nvPr/>
        </p:nvSpPr>
        <p:spPr>
          <a:xfrm>
            <a:off x="1261872" y="4133088"/>
            <a:ext cx="3703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4"/>
          <p:cNvSpPr/>
          <p:nvPr/>
        </p:nvSpPr>
        <p:spPr>
          <a:xfrm>
            <a:off x="1316736" y="413308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Exécution suspecte cmd.exe / powershell.exe via serveur Web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4"/>
          <p:cNvSpPr/>
          <p:nvPr/>
        </p:nvSpPr>
        <p:spPr>
          <a:xfrm>
            <a:off x="4965192" y="4133088"/>
            <a:ext cx="1078992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4"/>
          <p:cNvSpPr/>
          <p:nvPr/>
        </p:nvSpPr>
        <p:spPr>
          <a:xfrm>
            <a:off x="5020056" y="4133088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Exécution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4"/>
          <p:cNvSpPr/>
          <p:nvPr/>
        </p:nvSpPr>
        <p:spPr>
          <a:xfrm>
            <a:off x="6044176" y="4133100"/>
            <a:ext cx="2971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4"/>
          <p:cNvSpPr/>
          <p:nvPr/>
        </p:nvSpPr>
        <p:spPr>
          <a:xfrm>
            <a:off x="6099050" y="4133100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T1505.003 - Web Shell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4"/>
          <p:cNvSpPr/>
          <p:nvPr/>
        </p:nvSpPr>
        <p:spPr>
          <a:xfrm>
            <a:off x="457200" y="4553712"/>
            <a:ext cx="80467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4"/>
          <p:cNvSpPr/>
          <p:nvPr/>
        </p:nvSpPr>
        <p:spPr>
          <a:xfrm>
            <a:off x="512064" y="455371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100501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4"/>
          <p:cNvSpPr/>
          <p:nvPr/>
        </p:nvSpPr>
        <p:spPr>
          <a:xfrm>
            <a:off x="1261872" y="4553712"/>
            <a:ext cx="3703320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4"/>
          <p:cNvSpPr/>
          <p:nvPr/>
        </p:nvSpPr>
        <p:spPr>
          <a:xfrm>
            <a:off x="1316736" y="455371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Tentative d'injection SQL détectée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4"/>
          <p:cNvSpPr/>
          <p:nvPr/>
        </p:nvSpPr>
        <p:spPr>
          <a:xfrm>
            <a:off x="4965192" y="4553712"/>
            <a:ext cx="1078992" cy="38404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4"/>
          <p:cNvSpPr/>
          <p:nvPr/>
        </p:nvSpPr>
        <p:spPr>
          <a:xfrm>
            <a:off x="5020056" y="4553712"/>
            <a:ext cx="987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Accès Initial / Exécution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4"/>
          <p:cNvSpPr/>
          <p:nvPr/>
        </p:nvSpPr>
        <p:spPr>
          <a:xfrm>
            <a:off x="6044176" y="4553704"/>
            <a:ext cx="2971200" cy="3840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4"/>
          <p:cNvSpPr/>
          <p:nvPr/>
        </p:nvSpPr>
        <p:spPr>
          <a:xfrm>
            <a:off x="6099050" y="4553704"/>
            <a:ext cx="291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T1190 - Exploit Public-Facing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4"/>
          <p:cNvSpPr/>
          <p:nvPr/>
        </p:nvSpPr>
        <p:spPr>
          <a:xfrm>
            <a:off x="457200" y="4754880"/>
            <a:ext cx="8229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4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2 • DÉTECTION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4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22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 —  CYBERLAB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Suite d'outils développée pour valider le projet — aginepro.work/cyberlab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5"/>
          <p:cNvSpPr/>
          <p:nvPr/>
        </p:nvSpPr>
        <p:spPr>
          <a:xfrm>
            <a:off x="457200" y="128016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modules opérationnels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457200" y="155448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Chaque module adresse un choix d'architecture ou un contrôle de sécurité documenté dans les blocs 1 à 3. Le Cyberlab matérialise les compétences par une interface opérationnelle accessible en ligne.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5"/>
          <p:cNvSpPr/>
          <p:nvPr/>
        </p:nvSpPr>
        <p:spPr>
          <a:xfrm>
            <a:off x="457200" y="1975100"/>
            <a:ext cx="55434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5"/>
          <p:cNvSpPr/>
          <p:nvPr/>
        </p:nvSpPr>
        <p:spPr>
          <a:xfrm>
            <a:off x="457200" y="1975104"/>
            <a:ext cx="804672" cy="40233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5"/>
          <p:cNvSpPr/>
          <p:nvPr/>
        </p:nvSpPr>
        <p:spPr>
          <a:xfrm>
            <a:off x="457200" y="1975104"/>
            <a:ext cx="8046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/>
          <p:nvPr/>
        </p:nvSpPr>
        <p:spPr>
          <a:xfrm>
            <a:off x="1384800" y="1956850"/>
            <a:ext cx="4692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 Calculator, Network Expert, DMZ Explainer, pfSense Configuration — guide de déploiement et traçabilité des choix de configuration pfSense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5"/>
          <p:cNvSpPr/>
          <p:nvPr/>
        </p:nvSpPr>
        <p:spPr>
          <a:xfrm>
            <a:off x="457200" y="2432305"/>
            <a:ext cx="5543400" cy="40230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457200" y="2432304"/>
            <a:ext cx="804672" cy="40233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5"/>
          <p:cNvSpPr/>
          <p:nvPr/>
        </p:nvSpPr>
        <p:spPr>
          <a:xfrm>
            <a:off x="457200" y="2432304"/>
            <a:ext cx="8046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5"/>
          <p:cNvSpPr/>
          <p:nvPr/>
        </p:nvSpPr>
        <p:spPr>
          <a:xfrm>
            <a:off x="1384801" y="2432300"/>
            <a:ext cx="4485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 Directory Wizard — guide de déploiement AD, GPO, FGPP CIS et traçabilité des choix de configuration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5"/>
          <p:cNvSpPr/>
          <p:nvPr/>
        </p:nvSpPr>
        <p:spPr>
          <a:xfrm>
            <a:off x="457200" y="2889500"/>
            <a:ext cx="55434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5"/>
          <p:cNvSpPr/>
          <p:nvPr/>
        </p:nvSpPr>
        <p:spPr>
          <a:xfrm>
            <a:off x="457200" y="2889504"/>
            <a:ext cx="804672" cy="40233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5"/>
          <p:cNvSpPr/>
          <p:nvPr/>
        </p:nvSpPr>
        <p:spPr>
          <a:xfrm>
            <a:off x="457200" y="2889504"/>
            <a:ext cx="8046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1384800" y="2889500"/>
            <a:ext cx="454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 Commands &amp; XSS — pentest du formulaire de connexion webapp : injections SQL bloquées, PDO validé en conditions réelles (OWASP Top 10)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5"/>
          <p:cNvSpPr/>
          <p:nvPr/>
        </p:nvSpPr>
        <p:spPr>
          <a:xfrm>
            <a:off x="457200" y="3090669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41.jpg" id="889" name="Google Shape;8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8750" y="1933950"/>
            <a:ext cx="2981799" cy="26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25"/>
          <p:cNvSpPr/>
          <p:nvPr/>
        </p:nvSpPr>
        <p:spPr>
          <a:xfrm>
            <a:off x="6000600" y="4656825"/>
            <a:ext cx="2981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Cyberlab Detechtive — modules classés par finalité Build / Run / Pentest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5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5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• CYBERLAB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5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 —  CI/CD SÉCURISÉE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6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 GitHub Actions → Cloudflare Pages — sécurité intégrée en amont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6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6"/>
          <p:cNvSpPr/>
          <p:nvPr/>
        </p:nvSpPr>
        <p:spPr>
          <a:xfrm>
            <a:off x="457200" y="128016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contrôles de sécurité bloquants avant déploiement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6"/>
          <p:cNvSpPr/>
          <p:nvPr/>
        </p:nvSpPr>
        <p:spPr>
          <a:xfrm>
            <a:off x="457200" y="1591056"/>
            <a:ext cx="201168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6"/>
          <p:cNvSpPr/>
          <p:nvPr/>
        </p:nvSpPr>
        <p:spPr>
          <a:xfrm>
            <a:off x="457200" y="1591056"/>
            <a:ext cx="201168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6"/>
          <p:cNvSpPr/>
          <p:nvPr/>
        </p:nvSpPr>
        <p:spPr>
          <a:xfrm>
            <a:off x="457200" y="1591056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6"/>
          <p:cNvSpPr/>
          <p:nvPr/>
        </p:nvSpPr>
        <p:spPr>
          <a:xfrm>
            <a:off x="841248" y="15910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statique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6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flutter analyze (linter)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6"/>
          <p:cNvSpPr/>
          <p:nvPr/>
        </p:nvSpPr>
        <p:spPr>
          <a:xfrm>
            <a:off x="548640" y="237744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Bloque le build sur toute erreur de syntaxe ou de style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6"/>
          <p:cNvSpPr/>
          <p:nvPr/>
        </p:nvSpPr>
        <p:spPr>
          <a:xfrm>
            <a:off x="2578608" y="1591056"/>
            <a:ext cx="201168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6"/>
          <p:cNvSpPr/>
          <p:nvPr/>
        </p:nvSpPr>
        <p:spPr>
          <a:xfrm>
            <a:off x="2578608" y="1591056"/>
            <a:ext cx="2011680" cy="384048"/>
          </a:xfrm>
          <a:prstGeom prst="rect">
            <a:avLst/>
          </a:prstGeom>
          <a:solidFill>
            <a:srgbClr val="2D3B6B"/>
          </a:solidFill>
          <a:ln cap="flat" cmpd="sng" w="12700">
            <a:solidFill>
              <a:srgbClr val="2D3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6"/>
          <p:cNvSpPr/>
          <p:nvPr/>
        </p:nvSpPr>
        <p:spPr>
          <a:xfrm>
            <a:off x="2578608" y="1591056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6"/>
          <p:cNvSpPr/>
          <p:nvPr/>
        </p:nvSpPr>
        <p:spPr>
          <a:xfrm>
            <a:off x="2962656" y="15910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SAST + secrets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6"/>
          <p:cNvSpPr/>
          <p:nvPr/>
        </p:nvSpPr>
        <p:spPr>
          <a:xfrm>
            <a:off x="2670048" y="2011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Semgrep (OWASP + secrets)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6"/>
          <p:cNvSpPr/>
          <p:nvPr/>
        </p:nvSpPr>
        <p:spPr>
          <a:xfrm>
            <a:off x="2670048" y="237744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Rapport SARIF publié dans 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6"/>
          <p:cNvSpPr/>
          <p:nvPr/>
        </p:nvSpPr>
        <p:spPr>
          <a:xfrm>
            <a:off x="4700016" y="1591056"/>
            <a:ext cx="201168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6"/>
          <p:cNvSpPr/>
          <p:nvPr/>
        </p:nvSpPr>
        <p:spPr>
          <a:xfrm>
            <a:off x="4700016" y="1591056"/>
            <a:ext cx="2011680" cy="3840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6"/>
          <p:cNvSpPr/>
          <p:nvPr/>
        </p:nvSpPr>
        <p:spPr>
          <a:xfrm>
            <a:off x="4700016" y="1591056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6"/>
          <p:cNvSpPr/>
          <p:nvPr/>
        </p:nvSpPr>
        <p:spPr>
          <a:xfrm>
            <a:off x="5084064" y="15910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 + filesystem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6"/>
          <p:cNvSpPr/>
          <p:nvPr/>
        </p:nvSpPr>
        <p:spPr>
          <a:xfrm>
            <a:off x="4791456" y="2011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Trivy (vuln + secret)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6"/>
          <p:cNvSpPr/>
          <p:nvPr/>
        </p:nvSpPr>
        <p:spPr>
          <a:xfrm>
            <a:off x="4791456" y="237744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Exit-code 1 sur CRITICAL/HIGH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6"/>
          <p:cNvSpPr/>
          <p:nvPr/>
        </p:nvSpPr>
        <p:spPr>
          <a:xfrm>
            <a:off x="6821424" y="1591056"/>
            <a:ext cx="201168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6"/>
          <p:cNvSpPr/>
          <p:nvPr/>
        </p:nvSpPr>
        <p:spPr>
          <a:xfrm>
            <a:off x="6821424" y="1591056"/>
            <a:ext cx="2011680" cy="38404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6"/>
          <p:cNvSpPr/>
          <p:nvPr/>
        </p:nvSpPr>
        <p:spPr>
          <a:xfrm>
            <a:off x="6821424" y="1591056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6"/>
          <p:cNvSpPr/>
          <p:nvPr/>
        </p:nvSpPr>
        <p:spPr>
          <a:xfrm>
            <a:off x="7205472" y="15910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+ couverture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6"/>
          <p:cNvSpPr/>
          <p:nvPr/>
        </p:nvSpPr>
        <p:spPr>
          <a:xfrm>
            <a:off x="6912864" y="2011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flutter test + lcov + Codecov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6"/>
          <p:cNvSpPr/>
          <p:nvPr/>
        </p:nvSpPr>
        <p:spPr>
          <a:xfrm>
            <a:off x="6912864" y="237744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Seuil de couverture avant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6"/>
          <p:cNvSpPr/>
          <p:nvPr/>
        </p:nvSpPr>
        <p:spPr>
          <a:xfrm>
            <a:off x="457200" y="3310128"/>
            <a:ext cx="4480560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6"/>
          <p:cNvSpPr/>
          <p:nvPr/>
        </p:nvSpPr>
        <p:spPr>
          <a:xfrm>
            <a:off x="594360" y="33649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☁  Hébergement Cloudflare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6"/>
          <p:cNvSpPr/>
          <p:nvPr/>
        </p:nvSpPr>
        <p:spPr>
          <a:xfrm>
            <a:off x="594360" y="365760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Reverse proxy (TLS 1.3, WAF, anti-DDoS)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6"/>
          <p:cNvSpPr/>
          <p:nvPr/>
        </p:nvSpPr>
        <p:spPr>
          <a:xfrm>
            <a:off x="594360" y="39502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aginepro.work/cyberlab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6"/>
          <p:cNvSpPr/>
          <p:nvPr/>
        </p:nvSpPr>
        <p:spPr>
          <a:xfrm>
            <a:off x="594360" y="4242816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Historique complet des déploiements dans GitHub 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6"/>
          <p:cNvSpPr/>
          <p:nvPr/>
        </p:nvSpPr>
        <p:spPr>
          <a:xfrm>
            <a:off x="594360" y="4535424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 en-têtes de sécurité HTTP configurés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outenance_unpacked/word/media/image51.png" id="934" name="Google Shape;9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310128"/>
            <a:ext cx="3657600" cy="56088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26"/>
          <p:cNvSpPr/>
          <p:nvPr/>
        </p:nvSpPr>
        <p:spPr>
          <a:xfrm>
            <a:off x="5029200" y="3905000"/>
            <a:ext cx="3657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Pipeline CI/CD — lint → security → test → build-and-deploy (GitHub Actions)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6" name="Google Shape;9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950000"/>
            <a:ext cx="3657600" cy="72396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26"/>
          <p:cNvSpPr/>
          <p:nvPr/>
        </p:nvSpPr>
        <p:spPr>
          <a:xfrm>
            <a:off x="5029200" y="4700000"/>
            <a:ext cx="3657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securityheaders.com — note A+ (26 mai 2026)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6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6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BLOC 3 • DEVSECOPS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6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 xml:space="preserve">DURCISSEMENT GLOBAL DE </a:t>
            </a:r>
            <a:r>
              <a:rPr b="1" lang="en-US" sz="10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L'INFRASTRUCTURE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7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Défense en profondeur appliquée à chaque couche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7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7"/>
          <p:cNvSpPr/>
          <p:nvPr/>
        </p:nvSpPr>
        <p:spPr>
          <a:xfrm>
            <a:off x="457200" y="1261872"/>
            <a:ext cx="201168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7"/>
          <p:cNvSpPr/>
          <p:nvPr/>
        </p:nvSpPr>
        <p:spPr>
          <a:xfrm>
            <a:off x="457200" y="1261872"/>
            <a:ext cx="201168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7"/>
          <p:cNvSpPr/>
          <p:nvPr/>
        </p:nvSpPr>
        <p:spPr>
          <a:xfrm>
            <a:off x="594360" y="1371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pfSense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7"/>
          <p:cNvSpPr/>
          <p:nvPr/>
        </p:nvSpPr>
        <p:spPr>
          <a:xfrm>
            <a:off x="594360" y="1719072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Deny all par défaut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7"/>
          <p:cNvSpPr/>
          <p:nvPr/>
        </p:nvSpPr>
        <p:spPr>
          <a:xfrm>
            <a:off x="594360" y="2377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Interface d'administration web accessible uniquement via VPN 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7"/>
          <p:cNvSpPr/>
          <p:nvPr/>
        </p:nvSpPr>
        <p:spPr>
          <a:xfrm>
            <a:off x="594360" y="303580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Tunnel VPN réservé aux admins et développeurs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7"/>
          <p:cNvSpPr/>
          <p:nvPr/>
        </p:nvSpPr>
        <p:spPr>
          <a:xfrm>
            <a:off x="594360" y="3694176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Logs systématiquement remontés vers le SIEM Wazuh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7"/>
          <p:cNvSpPr/>
          <p:nvPr/>
        </p:nvSpPr>
        <p:spPr>
          <a:xfrm>
            <a:off x="2578608" y="1261872"/>
            <a:ext cx="201168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7"/>
          <p:cNvSpPr/>
          <p:nvPr/>
        </p:nvSpPr>
        <p:spPr>
          <a:xfrm>
            <a:off x="2578608" y="1261872"/>
            <a:ext cx="201168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7"/>
          <p:cNvSpPr/>
          <p:nvPr/>
        </p:nvSpPr>
        <p:spPr>
          <a:xfrm>
            <a:off x="2715768" y="1371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Switch IOU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7"/>
          <p:cNvSpPr/>
          <p:nvPr/>
        </p:nvSpPr>
        <p:spPr>
          <a:xfrm>
            <a:off x="2715768" y="1719072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Ports inutilisés → VLAN 999 + shutdown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7"/>
          <p:cNvSpPr/>
          <p:nvPr/>
        </p:nvSpPr>
        <p:spPr>
          <a:xfrm>
            <a:off x="2715768" y="2377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ip routing (L2 strict)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7"/>
          <p:cNvSpPr/>
          <p:nvPr/>
        </p:nvSpPr>
        <p:spPr>
          <a:xfrm>
            <a:off x="2715768" y="3035808"/>
            <a:ext cx="1737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Trunk filtré :</a:t>
            </a:r>
            <a:endParaRPr b="0" i="0" sz="10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          </a:t>
            </a: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seuls les VLAN 10–60</a:t>
            </a:r>
            <a:endParaRPr sz="10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          autorisés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7"/>
          <p:cNvSpPr/>
          <p:nvPr/>
        </p:nvSpPr>
        <p:spPr>
          <a:xfrm>
            <a:off x="2715768" y="3694176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7"/>
          <p:cNvSpPr/>
          <p:nvPr/>
        </p:nvSpPr>
        <p:spPr>
          <a:xfrm>
            <a:off x="4700016" y="1261872"/>
            <a:ext cx="201168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7"/>
          <p:cNvSpPr/>
          <p:nvPr/>
        </p:nvSpPr>
        <p:spPr>
          <a:xfrm>
            <a:off x="4700016" y="1261872"/>
            <a:ext cx="2011680" cy="54864"/>
          </a:xfrm>
          <a:prstGeom prst="rect">
            <a:avLst/>
          </a:prstGeom>
          <a:solidFill>
            <a:srgbClr val="2D3B6B"/>
          </a:solidFill>
          <a:ln cap="flat" cmpd="sng" w="12700">
            <a:solidFill>
              <a:srgbClr val="2D3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7"/>
          <p:cNvSpPr/>
          <p:nvPr/>
        </p:nvSpPr>
        <p:spPr>
          <a:xfrm>
            <a:off x="4837176" y="1371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Windows Server / 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7"/>
          <p:cNvSpPr/>
          <p:nvPr/>
        </p:nvSpPr>
        <p:spPr>
          <a:xfrm>
            <a:off x="4837176" y="1719072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GPO de sécurité par 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7"/>
          <p:cNvSpPr/>
          <p:nvPr/>
        </p:nvSpPr>
        <p:spPr>
          <a:xfrm>
            <a:off x="4837176" y="2377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Blocage USB (postes)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7"/>
          <p:cNvSpPr/>
          <p:nvPr/>
        </p:nvSpPr>
        <p:spPr>
          <a:xfrm>
            <a:off x="4837176" y="303580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Stratégie de mots de passe renforcée : 14 car. min., complexité, rotation 90 jours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7"/>
          <p:cNvSpPr/>
          <p:nvPr/>
        </p:nvSpPr>
        <p:spPr>
          <a:xfrm>
            <a:off x="4837176" y="3694176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NTFS activé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7"/>
          <p:cNvSpPr/>
          <p:nvPr/>
        </p:nvSpPr>
        <p:spPr>
          <a:xfrm>
            <a:off x="6821424" y="1261872"/>
            <a:ext cx="2011680" cy="3493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7"/>
          <p:cNvSpPr/>
          <p:nvPr/>
        </p:nvSpPr>
        <p:spPr>
          <a:xfrm>
            <a:off x="6821424" y="1261872"/>
            <a:ext cx="2011680" cy="5486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7"/>
          <p:cNvSpPr/>
          <p:nvPr/>
        </p:nvSpPr>
        <p:spPr>
          <a:xfrm>
            <a:off x="6958584" y="1371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7"/>
          <p:cNvSpPr/>
          <p:nvPr/>
        </p:nvSpPr>
        <p:spPr>
          <a:xfrm>
            <a:off x="6958584" y="1719072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Protection anti-injection 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7"/>
          <p:cNvSpPr/>
          <p:nvPr/>
        </p:nvSpPr>
        <p:spPr>
          <a:xfrm>
            <a:off x="6958584" y="2377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Contrôle strict des fichiers uploadés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7"/>
          <p:cNvSpPr/>
          <p:nvPr/>
        </p:nvSpPr>
        <p:spPr>
          <a:xfrm>
            <a:off x="6958584" y="303580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Mots de passe hachés bcrypt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7"/>
          <p:cNvSpPr/>
          <p:nvPr/>
        </p:nvSpPr>
        <p:spPr>
          <a:xfrm>
            <a:off x="6958584" y="3694176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TLS 1.3 affiché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7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7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DURCISSEMENT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7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25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BILAN  —  CHIFFRES CLÉS DU PROJET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8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projet Detechtive en quelques métriques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8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8"/>
          <p:cNvSpPr/>
          <p:nvPr/>
        </p:nvSpPr>
        <p:spPr>
          <a:xfrm>
            <a:off x="457200" y="1261872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8"/>
          <p:cNvSpPr/>
          <p:nvPr/>
        </p:nvSpPr>
        <p:spPr>
          <a:xfrm>
            <a:off x="457200" y="1261872"/>
            <a:ext cx="64008" cy="1691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8"/>
          <p:cNvSpPr/>
          <p:nvPr/>
        </p:nvSpPr>
        <p:spPr>
          <a:xfrm>
            <a:off x="457200" y="1426464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8"/>
          <p:cNvSpPr/>
          <p:nvPr/>
        </p:nvSpPr>
        <p:spPr>
          <a:xfrm>
            <a:off x="566928" y="2286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VLAN cloisonnés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8"/>
          <p:cNvSpPr/>
          <p:nvPr/>
        </p:nvSpPr>
        <p:spPr>
          <a:xfrm>
            <a:off x="2606040" y="1261872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8"/>
          <p:cNvSpPr/>
          <p:nvPr/>
        </p:nvSpPr>
        <p:spPr>
          <a:xfrm>
            <a:off x="2606040" y="1261872"/>
            <a:ext cx="64008" cy="1691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8"/>
          <p:cNvSpPr/>
          <p:nvPr/>
        </p:nvSpPr>
        <p:spPr>
          <a:xfrm>
            <a:off x="2606040" y="1426464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8"/>
          <p:cNvSpPr/>
          <p:nvPr/>
        </p:nvSpPr>
        <p:spPr>
          <a:xfrm>
            <a:off x="2715768" y="2286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Règles Wazuh personnalisées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8"/>
          <p:cNvSpPr/>
          <p:nvPr/>
        </p:nvSpPr>
        <p:spPr>
          <a:xfrm>
            <a:off x="4754880" y="1261872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8"/>
          <p:cNvSpPr/>
          <p:nvPr/>
        </p:nvSpPr>
        <p:spPr>
          <a:xfrm>
            <a:off x="4754880" y="1261872"/>
            <a:ext cx="64008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8"/>
          <p:cNvSpPr/>
          <p:nvPr/>
        </p:nvSpPr>
        <p:spPr>
          <a:xfrm>
            <a:off x="4754880" y="1426464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8"/>
          <p:cNvSpPr/>
          <p:nvPr/>
        </p:nvSpPr>
        <p:spPr>
          <a:xfrm>
            <a:off x="4864608" y="2286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agents Wazuh déployés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8"/>
          <p:cNvSpPr/>
          <p:nvPr/>
        </p:nvSpPr>
        <p:spPr>
          <a:xfrm>
            <a:off x="6903720" y="1261872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8"/>
          <p:cNvSpPr/>
          <p:nvPr/>
        </p:nvSpPr>
        <p:spPr>
          <a:xfrm>
            <a:off x="6903720" y="1261872"/>
            <a:ext cx="64008" cy="1691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8"/>
          <p:cNvSpPr/>
          <p:nvPr/>
        </p:nvSpPr>
        <p:spPr>
          <a:xfrm>
            <a:off x="6903720" y="1426464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8"/>
          <p:cNvSpPr/>
          <p:nvPr/>
        </p:nvSpPr>
        <p:spPr>
          <a:xfrm>
            <a:off x="7013448" y="2286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Flux chiffrés (TLS 1.3)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8"/>
          <p:cNvSpPr/>
          <p:nvPr/>
        </p:nvSpPr>
        <p:spPr>
          <a:xfrm>
            <a:off x="457200" y="3072384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8"/>
          <p:cNvSpPr/>
          <p:nvPr/>
        </p:nvSpPr>
        <p:spPr>
          <a:xfrm>
            <a:off x="457200" y="3072384"/>
            <a:ext cx="64008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8"/>
          <p:cNvSpPr/>
          <p:nvPr/>
        </p:nvSpPr>
        <p:spPr>
          <a:xfrm>
            <a:off x="457200" y="3236976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8"/>
          <p:cNvSpPr/>
          <p:nvPr/>
        </p:nvSpPr>
        <p:spPr>
          <a:xfrm>
            <a:off x="566928" y="40965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Tunnels VPN indépendants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8"/>
          <p:cNvSpPr/>
          <p:nvPr/>
        </p:nvSpPr>
        <p:spPr>
          <a:xfrm>
            <a:off x="2606040" y="3072384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8"/>
          <p:cNvSpPr/>
          <p:nvPr/>
        </p:nvSpPr>
        <p:spPr>
          <a:xfrm>
            <a:off x="2606040" y="3072384"/>
            <a:ext cx="64008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8"/>
          <p:cNvSpPr/>
          <p:nvPr/>
        </p:nvSpPr>
        <p:spPr>
          <a:xfrm>
            <a:off x="2606040" y="3236976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3-2-1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8"/>
          <p:cNvSpPr/>
          <p:nvPr/>
        </p:nvSpPr>
        <p:spPr>
          <a:xfrm>
            <a:off x="2715768" y="40965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Principe de sauvegarde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8"/>
          <p:cNvSpPr/>
          <p:nvPr/>
        </p:nvSpPr>
        <p:spPr>
          <a:xfrm>
            <a:off x="4754880" y="3072384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8"/>
          <p:cNvSpPr/>
          <p:nvPr/>
        </p:nvSpPr>
        <p:spPr>
          <a:xfrm>
            <a:off x="4754880" y="3072384"/>
            <a:ext cx="64008" cy="1691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8"/>
          <p:cNvSpPr/>
          <p:nvPr/>
        </p:nvSpPr>
        <p:spPr>
          <a:xfrm>
            <a:off x="4754880" y="3236976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8"/>
          <p:cNvSpPr/>
          <p:nvPr/>
        </p:nvSpPr>
        <p:spPr>
          <a:xfrm>
            <a:off x="4864608" y="40965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Score CIS File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8"/>
          <p:cNvSpPr/>
          <p:nvPr/>
        </p:nvSpPr>
        <p:spPr>
          <a:xfrm>
            <a:off x="6903720" y="3072384"/>
            <a:ext cx="2029968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8"/>
          <p:cNvSpPr/>
          <p:nvPr/>
        </p:nvSpPr>
        <p:spPr>
          <a:xfrm>
            <a:off x="6903720" y="3072384"/>
            <a:ext cx="64008" cy="16916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8"/>
          <p:cNvSpPr/>
          <p:nvPr/>
        </p:nvSpPr>
        <p:spPr>
          <a:xfrm>
            <a:off x="6903720" y="3236976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8"/>
          <p:cNvSpPr/>
          <p:nvPr/>
        </p:nvSpPr>
        <p:spPr>
          <a:xfrm>
            <a:off x="7013448" y="40965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Security Headers Cyberlab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8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8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BILAN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8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26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OUVERTURE  —  PISTES D'ÉVOLUTION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9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 que j'améliorerais en production réelle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9"/>
          <p:cNvSpPr/>
          <p:nvPr/>
        </p:nvSpPr>
        <p:spPr>
          <a:xfrm>
            <a:off x="457200" y="1115568"/>
            <a:ext cx="731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9"/>
          <p:cNvSpPr/>
          <p:nvPr/>
        </p:nvSpPr>
        <p:spPr>
          <a:xfrm>
            <a:off x="457200" y="1261872"/>
            <a:ext cx="42245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29"/>
          <p:cNvSpPr/>
          <p:nvPr/>
        </p:nvSpPr>
        <p:spPr>
          <a:xfrm>
            <a:off x="457200" y="1261872"/>
            <a:ext cx="64008" cy="170078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9"/>
          <p:cNvSpPr/>
          <p:nvPr/>
        </p:nvSpPr>
        <p:spPr>
          <a:xfrm>
            <a:off x="621792" y="13533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9"/>
          <p:cNvSpPr/>
          <p:nvPr/>
        </p:nvSpPr>
        <p:spPr>
          <a:xfrm>
            <a:off x="621792" y="17007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Doublement pfSense en cluster actif/passif — basculement automatique sans interruption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9"/>
          <p:cNvSpPr/>
          <p:nvPr/>
        </p:nvSpPr>
        <p:spPr>
          <a:xfrm>
            <a:off x="621792" y="20848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Ajout d'un deuxième lien physique trunk entre le switch et pfSense </a:t>
            </a: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pour éliminer le point de défaillance unique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9"/>
          <p:cNvSpPr/>
          <p:nvPr/>
        </p:nvSpPr>
        <p:spPr>
          <a:xfrm>
            <a:off x="621792" y="24688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Ajout d’un contrôleur de domaine secondaire en VLAN 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9"/>
          <p:cNvSpPr/>
          <p:nvPr/>
        </p:nvSpPr>
        <p:spPr>
          <a:xfrm>
            <a:off x="4864608" y="1261872"/>
            <a:ext cx="42245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9"/>
          <p:cNvSpPr/>
          <p:nvPr/>
        </p:nvSpPr>
        <p:spPr>
          <a:xfrm>
            <a:off x="4864608" y="1261872"/>
            <a:ext cx="64008" cy="170078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9"/>
          <p:cNvSpPr/>
          <p:nvPr/>
        </p:nvSpPr>
        <p:spPr>
          <a:xfrm>
            <a:off x="5029200" y="13533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Supervision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9"/>
          <p:cNvSpPr/>
          <p:nvPr/>
        </p:nvSpPr>
        <p:spPr>
          <a:xfrm>
            <a:off x="5029200" y="17007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Prometheus + Grafana pour métriques et dashboards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9"/>
          <p:cNvSpPr/>
          <p:nvPr/>
        </p:nvSpPr>
        <p:spPr>
          <a:xfrm>
            <a:off x="5029200" y="20848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Alerting e-mail / Slack sur seuils Grafana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9"/>
          <p:cNvSpPr/>
          <p:nvPr/>
        </p:nvSpPr>
        <p:spPr>
          <a:xfrm>
            <a:off x="5029200" y="24688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Scripts de réponse automatisée sur alertes Wazuh critiques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9"/>
          <p:cNvSpPr/>
          <p:nvPr/>
        </p:nvSpPr>
        <p:spPr>
          <a:xfrm>
            <a:off x="457200" y="3090672"/>
            <a:ext cx="42245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9"/>
          <p:cNvSpPr/>
          <p:nvPr/>
        </p:nvSpPr>
        <p:spPr>
          <a:xfrm>
            <a:off x="457200" y="3090672"/>
            <a:ext cx="64008" cy="170078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9"/>
          <p:cNvSpPr/>
          <p:nvPr/>
        </p:nvSpPr>
        <p:spPr>
          <a:xfrm>
            <a:off x="621792" y="31821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Cybersécurité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9"/>
          <p:cNvSpPr/>
          <p:nvPr/>
        </p:nvSpPr>
        <p:spPr>
          <a:xfrm>
            <a:off x="621792" y="35295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Passage MFA généralisé (utilisateurs </a:t>
            </a: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et VPN)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9"/>
          <p:cNvSpPr/>
          <p:nvPr/>
        </p:nvSpPr>
        <p:spPr>
          <a:xfrm>
            <a:off x="621792" y="39136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Solution EDR sur postes clients (ex. SentinelOne)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9"/>
          <p:cNvSpPr/>
          <p:nvPr/>
        </p:nvSpPr>
        <p:spPr>
          <a:xfrm>
            <a:off x="621792" y="42976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Scans de vulnérabilités via Kali Linux (Nmap)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9"/>
          <p:cNvSpPr/>
          <p:nvPr/>
        </p:nvSpPr>
        <p:spPr>
          <a:xfrm>
            <a:off x="4864608" y="3090672"/>
            <a:ext cx="42245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9"/>
          <p:cNvSpPr/>
          <p:nvPr/>
        </p:nvSpPr>
        <p:spPr>
          <a:xfrm>
            <a:off x="4864608" y="3090672"/>
            <a:ext cx="64008" cy="170078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9"/>
          <p:cNvSpPr/>
          <p:nvPr/>
        </p:nvSpPr>
        <p:spPr>
          <a:xfrm>
            <a:off x="5029200" y="31821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Sauvegarde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9"/>
          <p:cNvSpPr/>
          <p:nvPr/>
        </p:nvSpPr>
        <p:spPr>
          <a:xfrm>
            <a:off x="5029200" y="35295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3e copie offsite sur stockage cloud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9"/>
          <p:cNvSpPr/>
          <p:nvPr/>
        </p:nvSpPr>
        <p:spPr>
          <a:xfrm>
            <a:off x="5029200" y="39136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Automatisation des tests de restauration mensuelle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29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9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EVOLUTIONS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9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27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0"/>
          <p:cNvSpPr/>
          <p:nvPr/>
        </p:nvSpPr>
        <p:spPr>
          <a:xfrm>
            <a:off x="457200" y="822960"/>
            <a:ext cx="109728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0"/>
          <p:cNvSpPr/>
          <p:nvPr/>
        </p:nvSpPr>
        <p:spPr>
          <a:xfrm>
            <a:off x="457200" y="9875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0"/>
          <p:cNvSpPr/>
          <p:nvPr/>
        </p:nvSpPr>
        <p:spPr>
          <a:xfrm>
            <a:off x="457200" y="12984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du projet Detechtive Agency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0"/>
          <p:cNvSpPr/>
          <p:nvPr/>
        </p:nvSpPr>
        <p:spPr>
          <a:xfrm>
            <a:off x="457200" y="2157984"/>
            <a:ext cx="256032" cy="25603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0"/>
          <p:cNvSpPr/>
          <p:nvPr/>
        </p:nvSpPr>
        <p:spPr>
          <a:xfrm>
            <a:off x="841248" y="208483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E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Une infrastructure « Secure by Design » virtualisée de bout en bout sous GNS3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0"/>
          <p:cNvSpPr/>
          <p:nvPr/>
        </p:nvSpPr>
        <p:spPr>
          <a:xfrm>
            <a:off x="457200" y="2670048"/>
            <a:ext cx="256032" cy="25603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0"/>
          <p:cNvSpPr/>
          <p:nvPr/>
        </p:nvSpPr>
        <p:spPr>
          <a:xfrm>
            <a:off x="841248" y="2596896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E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Cloisonnement réseau strict en 6 VLAN avec filtrage pfSense centralisé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0"/>
          <p:cNvSpPr/>
          <p:nvPr/>
        </p:nvSpPr>
        <p:spPr>
          <a:xfrm>
            <a:off x="457200" y="3182112"/>
            <a:ext cx="256032" cy="25603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0"/>
          <p:cNvSpPr/>
          <p:nvPr/>
        </p:nvSpPr>
        <p:spPr>
          <a:xfrm>
            <a:off x="841248" y="31089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E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Authentification centralisée Active Directory et chiffrement des flux (TLS 1.3, LDAPS, WireGuard)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0"/>
          <p:cNvSpPr/>
          <p:nvPr/>
        </p:nvSpPr>
        <p:spPr>
          <a:xfrm>
            <a:off x="457200" y="3694176"/>
            <a:ext cx="256032" cy="25603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0"/>
          <p:cNvSpPr/>
          <p:nvPr/>
        </p:nvSpPr>
        <p:spPr>
          <a:xfrm>
            <a:off x="841248" y="3621024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E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Supervision Wazuh avec règles de détection personnalisées alignées MITRE ATT&amp;CK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0"/>
          <p:cNvSpPr/>
          <p:nvPr/>
        </p:nvSpPr>
        <p:spPr>
          <a:xfrm>
            <a:off x="457200" y="4206240"/>
            <a:ext cx="256032" cy="25603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0"/>
          <p:cNvSpPr/>
          <p:nvPr/>
        </p:nvSpPr>
        <p:spPr>
          <a:xfrm>
            <a:off x="841248" y="413308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E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Cyberlab comme outil de conception et de validation : guide pfSense, AD Wizard, pentest SQL — pipeline CI/CD GitHub 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9" name="Google Shape;1079;p30"/>
          <p:cNvCxnSpPr/>
          <p:nvPr/>
        </p:nvCxnSpPr>
        <p:spPr>
          <a:xfrm>
            <a:off x="457200" y="475488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0" name="Google Shape;1080;p30"/>
          <p:cNvSpPr/>
          <p:nvPr/>
        </p:nvSpPr>
        <p:spPr>
          <a:xfrm>
            <a:off x="457200" y="48006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0"/>
          <p:cNvSpPr/>
          <p:nvPr/>
        </p:nvSpPr>
        <p:spPr>
          <a:xfrm>
            <a:off x="457200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0"/>
          <p:cNvSpPr/>
          <p:nvPr/>
        </p:nvSpPr>
        <p:spPr>
          <a:xfrm>
            <a:off x="612648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0"/>
          <p:cNvSpPr/>
          <p:nvPr/>
        </p:nvSpPr>
        <p:spPr>
          <a:xfrm>
            <a:off x="768096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0"/>
          <p:cNvSpPr/>
          <p:nvPr/>
        </p:nvSpPr>
        <p:spPr>
          <a:xfrm>
            <a:off x="923544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1078992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0"/>
          <p:cNvSpPr/>
          <p:nvPr/>
        </p:nvSpPr>
        <p:spPr>
          <a:xfrm>
            <a:off x="1234440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0"/>
          <p:cNvSpPr/>
          <p:nvPr/>
        </p:nvSpPr>
        <p:spPr>
          <a:xfrm>
            <a:off x="1389888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0"/>
          <p:cNvSpPr/>
          <p:nvPr/>
        </p:nvSpPr>
        <p:spPr>
          <a:xfrm>
            <a:off x="1545336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0"/>
          <p:cNvSpPr/>
          <p:nvPr/>
        </p:nvSpPr>
        <p:spPr>
          <a:xfrm>
            <a:off x="1700784" y="513892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0"/>
          <p:cNvSpPr/>
          <p:nvPr/>
        </p:nvSpPr>
        <p:spPr>
          <a:xfrm>
            <a:off x="457200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612648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0"/>
          <p:cNvSpPr/>
          <p:nvPr/>
        </p:nvSpPr>
        <p:spPr>
          <a:xfrm>
            <a:off x="768096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0"/>
          <p:cNvSpPr/>
          <p:nvPr/>
        </p:nvSpPr>
        <p:spPr>
          <a:xfrm>
            <a:off x="923544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0"/>
          <p:cNvSpPr/>
          <p:nvPr/>
        </p:nvSpPr>
        <p:spPr>
          <a:xfrm>
            <a:off x="1078992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1234440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0"/>
          <p:cNvSpPr/>
          <p:nvPr/>
        </p:nvSpPr>
        <p:spPr>
          <a:xfrm>
            <a:off x="1389888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0"/>
          <p:cNvSpPr/>
          <p:nvPr/>
        </p:nvSpPr>
        <p:spPr>
          <a:xfrm>
            <a:off x="1545336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0"/>
          <p:cNvSpPr/>
          <p:nvPr/>
        </p:nvSpPr>
        <p:spPr>
          <a:xfrm>
            <a:off x="1700784" y="529437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457200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0"/>
          <p:cNvSpPr/>
          <p:nvPr/>
        </p:nvSpPr>
        <p:spPr>
          <a:xfrm>
            <a:off x="612648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0"/>
          <p:cNvSpPr/>
          <p:nvPr/>
        </p:nvSpPr>
        <p:spPr>
          <a:xfrm>
            <a:off x="768096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0"/>
          <p:cNvSpPr/>
          <p:nvPr/>
        </p:nvSpPr>
        <p:spPr>
          <a:xfrm>
            <a:off x="923544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0"/>
          <p:cNvSpPr/>
          <p:nvPr/>
        </p:nvSpPr>
        <p:spPr>
          <a:xfrm>
            <a:off x="1078992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0"/>
          <p:cNvSpPr/>
          <p:nvPr/>
        </p:nvSpPr>
        <p:spPr>
          <a:xfrm>
            <a:off x="1234440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0"/>
          <p:cNvSpPr/>
          <p:nvPr/>
        </p:nvSpPr>
        <p:spPr>
          <a:xfrm>
            <a:off x="1389888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0"/>
          <p:cNvSpPr/>
          <p:nvPr/>
        </p:nvSpPr>
        <p:spPr>
          <a:xfrm>
            <a:off x="1545336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0"/>
          <p:cNvSpPr/>
          <p:nvPr/>
        </p:nvSpPr>
        <p:spPr>
          <a:xfrm>
            <a:off x="1700784" y="5449824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0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0"/>
          <p:cNvSpPr/>
          <p:nvPr/>
        </p:nvSpPr>
        <p:spPr>
          <a:xfrm>
            <a:off x="3200400" y="49286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28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31"/>
          <p:cNvSpPr/>
          <p:nvPr/>
        </p:nvSpPr>
        <p:spPr>
          <a:xfrm>
            <a:off x="7571232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1"/>
          <p:cNvSpPr/>
          <p:nvPr/>
        </p:nvSpPr>
        <p:spPr>
          <a:xfrm>
            <a:off x="7726680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1"/>
          <p:cNvSpPr/>
          <p:nvPr/>
        </p:nvSpPr>
        <p:spPr>
          <a:xfrm>
            <a:off x="7882128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1"/>
          <p:cNvSpPr/>
          <p:nvPr/>
        </p:nvSpPr>
        <p:spPr>
          <a:xfrm>
            <a:off x="8037576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1"/>
          <p:cNvSpPr/>
          <p:nvPr/>
        </p:nvSpPr>
        <p:spPr>
          <a:xfrm>
            <a:off x="8193024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1"/>
          <p:cNvSpPr/>
          <p:nvPr/>
        </p:nvSpPr>
        <p:spPr>
          <a:xfrm>
            <a:off x="8348472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1"/>
          <p:cNvSpPr/>
          <p:nvPr/>
        </p:nvSpPr>
        <p:spPr>
          <a:xfrm>
            <a:off x="8503920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1"/>
          <p:cNvSpPr/>
          <p:nvPr/>
        </p:nvSpPr>
        <p:spPr>
          <a:xfrm>
            <a:off x="8659368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1"/>
          <p:cNvSpPr/>
          <p:nvPr/>
        </p:nvSpPr>
        <p:spPr>
          <a:xfrm>
            <a:off x="8814816" y="164592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1"/>
          <p:cNvSpPr/>
          <p:nvPr/>
        </p:nvSpPr>
        <p:spPr>
          <a:xfrm>
            <a:off x="7571232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1"/>
          <p:cNvSpPr/>
          <p:nvPr/>
        </p:nvSpPr>
        <p:spPr>
          <a:xfrm>
            <a:off x="7726680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1"/>
          <p:cNvSpPr/>
          <p:nvPr/>
        </p:nvSpPr>
        <p:spPr>
          <a:xfrm>
            <a:off x="7882128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1"/>
          <p:cNvSpPr/>
          <p:nvPr/>
        </p:nvSpPr>
        <p:spPr>
          <a:xfrm>
            <a:off x="8037576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1"/>
          <p:cNvSpPr/>
          <p:nvPr/>
        </p:nvSpPr>
        <p:spPr>
          <a:xfrm>
            <a:off x="8193024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1"/>
          <p:cNvSpPr/>
          <p:nvPr/>
        </p:nvSpPr>
        <p:spPr>
          <a:xfrm>
            <a:off x="8348472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1"/>
          <p:cNvSpPr/>
          <p:nvPr/>
        </p:nvSpPr>
        <p:spPr>
          <a:xfrm>
            <a:off x="8503920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1"/>
          <p:cNvSpPr/>
          <p:nvPr/>
        </p:nvSpPr>
        <p:spPr>
          <a:xfrm>
            <a:off x="8659368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1"/>
          <p:cNvSpPr/>
          <p:nvPr/>
        </p:nvSpPr>
        <p:spPr>
          <a:xfrm>
            <a:off x="8814816" y="320040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1"/>
          <p:cNvSpPr/>
          <p:nvPr/>
        </p:nvSpPr>
        <p:spPr>
          <a:xfrm>
            <a:off x="7571232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1"/>
          <p:cNvSpPr/>
          <p:nvPr/>
        </p:nvSpPr>
        <p:spPr>
          <a:xfrm>
            <a:off x="7726680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1"/>
          <p:cNvSpPr/>
          <p:nvPr/>
        </p:nvSpPr>
        <p:spPr>
          <a:xfrm>
            <a:off x="7882128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1"/>
          <p:cNvSpPr/>
          <p:nvPr/>
        </p:nvSpPr>
        <p:spPr>
          <a:xfrm>
            <a:off x="8037576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1"/>
          <p:cNvSpPr/>
          <p:nvPr/>
        </p:nvSpPr>
        <p:spPr>
          <a:xfrm>
            <a:off x="8193024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1"/>
          <p:cNvSpPr/>
          <p:nvPr/>
        </p:nvSpPr>
        <p:spPr>
          <a:xfrm>
            <a:off x="8348472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1"/>
          <p:cNvSpPr/>
          <p:nvPr/>
        </p:nvSpPr>
        <p:spPr>
          <a:xfrm>
            <a:off x="8503920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1"/>
          <p:cNvSpPr/>
          <p:nvPr/>
        </p:nvSpPr>
        <p:spPr>
          <a:xfrm>
            <a:off x="8659368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1"/>
          <p:cNvSpPr/>
          <p:nvPr/>
        </p:nvSpPr>
        <p:spPr>
          <a:xfrm>
            <a:off x="8814816" y="475488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7571232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1"/>
          <p:cNvSpPr/>
          <p:nvPr/>
        </p:nvSpPr>
        <p:spPr>
          <a:xfrm>
            <a:off x="7726680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1"/>
          <p:cNvSpPr/>
          <p:nvPr/>
        </p:nvSpPr>
        <p:spPr>
          <a:xfrm>
            <a:off x="7882128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1"/>
          <p:cNvSpPr/>
          <p:nvPr/>
        </p:nvSpPr>
        <p:spPr>
          <a:xfrm>
            <a:off x="8037576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1"/>
          <p:cNvSpPr/>
          <p:nvPr/>
        </p:nvSpPr>
        <p:spPr>
          <a:xfrm>
            <a:off x="8193024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1"/>
          <p:cNvSpPr/>
          <p:nvPr/>
        </p:nvSpPr>
        <p:spPr>
          <a:xfrm>
            <a:off x="8348472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1"/>
          <p:cNvSpPr/>
          <p:nvPr/>
        </p:nvSpPr>
        <p:spPr>
          <a:xfrm>
            <a:off x="8503920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1"/>
          <p:cNvSpPr/>
          <p:nvPr/>
        </p:nvSpPr>
        <p:spPr>
          <a:xfrm>
            <a:off x="8659368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1"/>
          <p:cNvSpPr/>
          <p:nvPr/>
        </p:nvSpPr>
        <p:spPr>
          <a:xfrm>
            <a:off x="8814816" y="630936"/>
            <a:ext cx="64008" cy="64008"/>
          </a:xfrm>
          <a:prstGeom prst="rect">
            <a:avLst/>
          </a:prstGeom>
          <a:solidFill>
            <a:srgbClr val="14B8A6">
              <a:alpha val="45098"/>
            </a:srgbClr>
          </a:solidFill>
          <a:ln cap="flat" cmpd="sng" w="12700">
            <a:solidFill>
              <a:srgbClr val="14B8A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31"/>
          <p:cNvSpPr/>
          <p:nvPr/>
        </p:nvSpPr>
        <p:spPr>
          <a:xfrm>
            <a:off x="457200" y="2633472"/>
            <a:ext cx="118872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1"/>
          <p:cNvSpPr/>
          <p:nvPr/>
        </p:nvSpPr>
        <p:spPr>
          <a:xfrm>
            <a:off x="457200" y="3337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1"/>
          <p:cNvSpPr/>
          <p:nvPr/>
        </p:nvSpPr>
        <p:spPr>
          <a:xfrm>
            <a:off x="457200" y="4005072"/>
            <a:ext cx="64008" cy="8046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1"/>
          <p:cNvSpPr/>
          <p:nvPr/>
        </p:nvSpPr>
        <p:spPr>
          <a:xfrm>
            <a:off x="640080" y="404164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Axel GINEPRO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1"/>
          <p:cNvSpPr/>
          <p:nvPr/>
        </p:nvSpPr>
        <p:spPr>
          <a:xfrm>
            <a:off x="640080" y="4334256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axelginepro/Projet_Detechtive (GitHub)  •  aginepro.work/cyberlab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B2D"/>
          </a:solidFill>
          <a:ln cap="flat" cmpd="sng" w="12700">
            <a:solidFill>
              <a:srgbClr val="0F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1"/>
          <p:cNvSpPr/>
          <p:nvPr/>
        </p:nvSpPr>
        <p:spPr>
          <a:xfrm>
            <a:off x="365760" y="49286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DETECHTIVE AGENCY  //  AIS RNCP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1"/>
          <p:cNvSpPr/>
          <p:nvPr/>
        </p:nvSpPr>
        <p:spPr>
          <a:xfrm>
            <a:off x="7955280" y="4928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29 / 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